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0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86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10672"/>
            <a:ext cx="7033498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VATA STUDIO ASSISTANT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7240" y="1637705"/>
            <a:ext cx="13075920" cy="287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Интеллектуальный Telegram-бот для автоматизации консультаций фотостудии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7240" y="4844415"/>
            <a:ext cx="1307592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[Копычев Матвей]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5449491"/>
            <a:ext cx="1307592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Группа: [РПО 11/2]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054566"/>
            <a:ext cx="1307592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Руководитель: [Максим Николаевич]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6659642"/>
            <a:ext cx="1307592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Учреждение: Московский международный колледж цифровых технологий «Академия ТОП»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7264718"/>
            <a:ext cx="1307592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Санкт-Петербург, 2025</a:t>
            </a:r>
            <a:endParaRPr lang="en-US" sz="17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3CCF524-35FF-4027-80F2-C2DD70175CE2}"/>
              </a:ext>
            </a:extLst>
          </p:cNvPr>
          <p:cNvSpPr/>
          <p:nvPr/>
        </p:nvSpPr>
        <p:spPr>
          <a:xfrm>
            <a:off x="12713677" y="7442359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809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АКТУАЛЬНОСТЬ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2048"/>
            <a:ext cx="38311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Практическая значимость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8319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рутинных консультаций снижает нагрузку на менеджеров на 40-60%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8829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Круглосуточная доступность информации для клиентов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9339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Стандартизация ответов и повышение качества сервиса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102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Где применяется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26831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Фото-видео студии, работающие с маркетплейсами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12539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Сервисные компании с регулярными клиентскими запросами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9304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Малый и средний бизнес в сфере услуг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353645"/>
            <a:ext cx="13042821" cy="1907858"/>
          </a:xfrm>
          <a:prstGeom prst="roundRect">
            <a:avLst>
              <a:gd name="adj" fmla="val 4993"/>
            </a:avLst>
          </a:prstGeom>
          <a:solidFill>
            <a:srgbClr val="0A004D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63327"/>
            <a:ext cx="354330" cy="283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1748" y="5637133"/>
            <a:ext cx="3188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стоит изучать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1748" y="6218277"/>
            <a:ext cx="120080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Растет спрос на автоматизацию клиентского сервиса. Телеграм-боты становятся стандартом для бизнес-коммуникаций. Разработка ИИ-ассистентов - востребованное направление в IT.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288E019-52BA-4E56-801A-D6C8E316CE12}"/>
              </a:ext>
            </a:extLst>
          </p:cNvPr>
          <p:cNvSpPr/>
          <p:nvPr/>
        </p:nvSpPr>
        <p:spPr>
          <a:xfrm>
            <a:off x="12713677" y="7442359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592693"/>
            <a:ext cx="6336625" cy="531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ПРОБЛЕМА, ЦЕЛЬ И ЗАДАЧИ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744855" y="1550313"/>
            <a:ext cx="6463903" cy="2633901"/>
          </a:xfrm>
          <a:prstGeom prst="roundRect">
            <a:avLst>
              <a:gd name="adj" fmla="val 416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1995" y="1550313"/>
            <a:ext cx="91440" cy="2633901"/>
          </a:xfrm>
          <a:prstGeom prst="roundRect">
            <a:avLst>
              <a:gd name="adj" fmla="val 97759"/>
            </a:avLst>
          </a:prstGeom>
          <a:solidFill>
            <a:srgbClr val="2B0AFF"/>
          </a:solidFill>
          <a:ln/>
        </p:spPr>
      </p:sp>
      <p:sp>
        <p:nvSpPr>
          <p:cNvPr id="5" name="Text 3"/>
          <p:cNvSpPr/>
          <p:nvPr/>
        </p:nvSpPr>
        <p:spPr>
          <a:xfrm>
            <a:off x="1049060" y="1785938"/>
            <a:ext cx="2899767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 ПРОЕКТА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49060" y="2245995"/>
            <a:ext cx="5924074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интегрированного решения для фотостудий, которое автоматически консультирует клиентов по тарифам и моделям, понимает естественный язык и при необходимости подключает живого менеджера.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21523" y="1550313"/>
            <a:ext cx="6464022" cy="2633901"/>
          </a:xfrm>
          <a:prstGeom prst="roundRect">
            <a:avLst>
              <a:gd name="adj" fmla="val 416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663" y="1550313"/>
            <a:ext cx="91440" cy="2633901"/>
          </a:xfrm>
          <a:prstGeom prst="roundRect">
            <a:avLst>
              <a:gd name="adj" fmla="val 97759"/>
            </a:avLst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7725728" y="1785938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ПРОЕКТА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725728" y="2245995"/>
            <a:ext cx="592419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интеллектуального Telegram-бота для фотостудии Vata Studio, способного автоматически консультировать клиентов, обрабатывать естественно-языковые запросы и эффективно управлять подключением менеджеров.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4855" y="4503420"/>
            <a:ext cx="3192423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ЗАДАЧИ ПРОЕКТА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44855" y="5221605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 архитектуру aiogram 3.x для создания современных Telegram-ботов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4855" y="5636538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модуль работы с Google Sheets для динамической загрузки данных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44855" y="6051471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Реализовать ИИ-ассистент с распознаванием интентов и извлечением сущностей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4855" y="6466403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Создать систему уведомления менеджеров и контроля состояния бота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4855" y="6881336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Построить базу данных для хранения истории диалогов и аналитики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44855" y="7296269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Протестировать работу всех модулей и сделать выводы об эффективности</a:t>
            </a:r>
            <a:endParaRPr lang="en-US" sz="16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CC1A3A7-C64C-4126-BBFD-69DA57107926}"/>
              </a:ext>
            </a:extLst>
          </p:cNvPr>
          <p:cNvSpPr/>
          <p:nvPr/>
        </p:nvSpPr>
        <p:spPr>
          <a:xfrm>
            <a:off x="12691559" y="7480752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3429"/>
            <a:ext cx="61589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ТЕОРЕТИЧЕСКАЯ ОСНОВА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97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Ключевые понятия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785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Интиент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намерение пользователя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455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Сущность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конкретный объект в запросе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124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FSM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конечный автомат для управления состояниями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794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Webhook/Polling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методы получения обновлений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1897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Методы и подходы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24785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NLP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9207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Асинхронное программирование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3629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Модульная архитектура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8051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Кэширование данных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086588"/>
            <a:ext cx="37141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Архитектурные паттерны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3790" y="5781080"/>
            <a:ext cx="13042821" cy="1685092"/>
          </a:xfrm>
          <a:prstGeom prst="roundRect">
            <a:avLst>
              <a:gd name="adj" fmla="val 565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410" y="5788700"/>
            <a:ext cx="4342448" cy="1669852"/>
          </a:xfrm>
          <a:prstGeom prst="roundRect">
            <a:avLst>
              <a:gd name="adj" fmla="val 5705"/>
            </a:avLst>
          </a:prstGeom>
          <a:solidFill>
            <a:srgbClr val="1100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28224" y="6015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Роутер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8224" y="6505932"/>
            <a:ext cx="38888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Централизованная маршрутизация запросов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5143857" y="5788700"/>
            <a:ext cx="4342567" cy="1669852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9" name="Shape 17"/>
          <p:cNvSpPr/>
          <p:nvPr/>
        </p:nvSpPr>
        <p:spPr>
          <a:xfrm>
            <a:off x="5143857" y="5788700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20" name="Text 18"/>
          <p:cNvSpPr/>
          <p:nvPr/>
        </p:nvSpPr>
        <p:spPr>
          <a:xfrm>
            <a:off x="5370671" y="6015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Сервисный слой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70671" y="6505932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Бизнес-логика в отдельных классах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9486424" y="5788700"/>
            <a:ext cx="4342567" cy="1669852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23" name="Shape 21"/>
          <p:cNvSpPr/>
          <p:nvPr/>
        </p:nvSpPr>
        <p:spPr>
          <a:xfrm>
            <a:off x="9486424" y="5788700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24" name="Text 22"/>
          <p:cNvSpPr/>
          <p:nvPr/>
        </p:nvSpPr>
        <p:spPr>
          <a:xfrm>
            <a:off x="9713238" y="6015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Репозиторий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13238" y="6505932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 к данным через абстракции</a:t>
            </a:r>
            <a:endParaRPr lang="en-US" sz="175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AB8C4A3-8D28-47AB-9DB6-67D14411F47A}"/>
              </a:ext>
            </a:extLst>
          </p:cNvPr>
          <p:cNvSpPr/>
          <p:nvPr/>
        </p:nvSpPr>
        <p:spPr>
          <a:xfrm>
            <a:off x="12687776" y="7690412"/>
            <a:ext cx="1846385" cy="485372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0179"/>
            <a:ext cx="104973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ИНСТРУМЕНТЫ И МЕТОДЫ ИССЛЕДОВАНИЯ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822127" y="2439472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74" y="2613422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01246"/>
            <a:ext cx="30456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Языки и фреймворки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79166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3.9+, Aiogram 3.x, SQLite, Aiohttp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64229" y="2439472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77" y="2613422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3301246"/>
            <a:ext cx="3243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Среды и инструменты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379166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 / PyCharm, Git, Google Sheets API, Telegram Bot API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706332" y="2439472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680" y="2613422"/>
            <a:ext cx="283488" cy="2268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33012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Источники данных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379166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Sheets (тарифы, модели), Telegram API, SQLite база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857631"/>
            <a:ext cx="35555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Методы анализа данных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5521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Регулярные выражения для извлечения сущностей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59943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Статистический анализ активности пользователей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4365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эффективности ответов ИИ-ассистента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6276341-0C18-4C82-AEAB-D431BABA816F}"/>
              </a:ext>
            </a:extLst>
          </p:cNvPr>
          <p:cNvSpPr/>
          <p:nvPr/>
        </p:nvSpPr>
        <p:spPr>
          <a:xfrm>
            <a:off x="12763949" y="7442359"/>
            <a:ext cx="1758461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474" y="435650"/>
            <a:ext cx="6354723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ПРАКТИЧЕСКАЯ ЧАСТЬ / РЕАЛИЗАЦИЯ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54474" y="894993"/>
            <a:ext cx="3583781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8.1. ОБЩИЙ ПРОЦЕСС РАЗРАБОТКИ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54474" y="1205746"/>
            <a:ext cx="2943701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8.2. ПРИМЕРЫ РЕЗУЛЬТАТОВ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54474" y="1690807"/>
            <a:ext cx="13521452" cy="2265521"/>
          </a:xfrm>
          <a:prstGeom prst="roundRect">
            <a:avLst>
              <a:gd name="adj" fmla="val 2937"/>
            </a:avLst>
          </a:prstGeom>
          <a:solidFill>
            <a:srgbClr val="343232"/>
          </a:solidFill>
          <a:ln/>
        </p:spPr>
      </p:sp>
      <p:sp>
        <p:nvSpPr>
          <p:cNvPr id="6" name="Shape 4"/>
          <p:cNvSpPr/>
          <p:nvPr/>
        </p:nvSpPr>
        <p:spPr>
          <a:xfrm>
            <a:off x="546616" y="1690807"/>
            <a:ext cx="13537168" cy="2265521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704969" y="1809631"/>
            <a:ext cx="13220462" cy="202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Определение интента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"Сколько стоит базовый тариф?"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intent = ai_assistant.detect_intent(text) # 'tariff_info'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Извлечение сущностей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 = ai_assistant.extract_entities(text)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{'tariff_name': 'базовый', 'model_name': None, ...}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4474" y="4134564"/>
            <a:ext cx="13521452" cy="1758553"/>
          </a:xfrm>
          <a:prstGeom prst="roundRect">
            <a:avLst>
              <a:gd name="adj" fmla="val 3784"/>
            </a:avLst>
          </a:prstGeom>
          <a:solidFill>
            <a:srgbClr val="343232"/>
          </a:solidFill>
          <a:ln/>
        </p:spPr>
      </p:sp>
      <p:sp>
        <p:nvSpPr>
          <p:cNvPr id="9" name="Shape 7"/>
          <p:cNvSpPr/>
          <p:nvPr/>
        </p:nvSpPr>
        <p:spPr>
          <a:xfrm>
            <a:off x="546616" y="4134564"/>
            <a:ext cx="13537168" cy="1758553"/>
          </a:xfrm>
          <a:prstGeom prst="roundRect">
            <a:avLst>
              <a:gd name="adj" fmla="val 1351"/>
            </a:avLst>
          </a:prstGeom>
          <a:solidFill>
            <a:srgbClr val="343232"/>
          </a:solidFill>
          <a:ln/>
        </p:spPr>
      </p:sp>
      <p:sp>
        <p:nvSpPr>
          <p:cNvPr id="10" name="Text 8"/>
          <p:cNvSpPr/>
          <p:nvPr/>
        </p:nvSpPr>
        <p:spPr>
          <a:xfrm>
            <a:off x="704969" y="4253389"/>
            <a:ext cx="13220462" cy="152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format_tariff_response(tariff):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f"""Тариф: {tariff['name']}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Цена: {tariff['price']}₽ за 1 артикул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Кадров: {tariff['frames']}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Описание: {tariff['description']}"""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4474" y="6130766"/>
            <a:ext cx="2703790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8.3. КЛЮЧЕВЫЕ НАХОДКИ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4474" y="6615827"/>
            <a:ext cx="13521452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Модульная архитектура позволяет легко расширять функционал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4474" y="6924675"/>
            <a:ext cx="13521452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Динамическая загрузка данных из Google Sheets обеспечивает актуальность информации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4474" y="7233523"/>
            <a:ext cx="13521452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подход к NLP оказался эффективным для конкретной предметной области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4474" y="7542371"/>
            <a:ext cx="13521452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уведомлений менеджеров работает без задержек</a:t>
            </a:r>
            <a:endParaRPr lang="en-US" sz="12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6253BF2-6338-418B-9362-DED829024E52}"/>
              </a:ext>
            </a:extLst>
          </p:cNvPr>
          <p:cNvSpPr/>
          <p:nvPr/>
        </p:nvSpPr>
        <p:spPr>
          <a:xfrm>
            <a:off x="12713677" y="7442359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9130"/>
            <a:ext cx="1058227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ИССЛЕДОВАТЕЛЬСКАЯ ЧАСТЬ / АНАЛИТИКА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79734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68735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183106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Подход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280" y="183106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Точность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725" y="183106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Скорость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54170" y="183106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Простота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233767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248138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Простые команды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43280" y="248138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725" y="248138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&lt;100 мс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170" y="248138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298799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3131701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ИИ-ассистент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243280" y="313170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85-90%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848725" y="313170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300-800 мс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454170" y="313170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363831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3782020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Ручная обработка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243280" y="378202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725" y="378202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30-60 сек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454170" y="378202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4778216"/>
            <a:ext cx="3018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Статистика за месяц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3790" y="5359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Всего пользователей: 15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93790" y="58015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Всего сообщений: 1,250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93790" y="62437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Обработано ИИ: 890 (71%)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66859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Вызовов менеджера: 47 (4%)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0" y="71281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Среднее время ответа: 420 мс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599521" y="4778216"/>
            <a:ext cx="3410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Точность по сложности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99521" y="5359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 запрос: 98%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99521" y="58015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Средний запрос: 92%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599521" y="62437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Сложный запрос: 78%</a:t>
            </a:r>
            <a:endParaRPr lang="en-US" sz="17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5F8D505-DA40-495A-BA1F-8E37BB18766A}"/>
              </a:ext>
            </a:extLst>
          </p:cNvPr>
          <p:cNvSpPr/>
          <p:nvPr/>
        </p:nvSpPr>
        <p:spPr>
          <a:xfrm>
            <a:off x="12643815" y="7442359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7934"/>
            <a:ext cx="6024086" cy="56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ТЕСТИРОВАНИЕ ПРОЕКТА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4384" y="1738432"/>
            <a:ext cx="3479244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10.1. ЧТО ТЕСТИРОВАЛИ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4384" y="2312670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Загрузка данных из Google Sheets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4384" y="2749510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Распознавание интентов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4384" y="3186351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Надежность базы данных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4384" y="3623191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уведомлений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4384" y="4060031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Производительность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6187" y="1738432"/>
            <a:ext cx="35879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10.2. КАКИМ СПОСОБОМ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6187" y="2312670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Функциональные тесты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6187" y="2749510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Нагрузочное тестирование (50+ польз.)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6187" y="3186351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Юнит-тесты и интеграционные тесты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6187" y="3623191"/>
            <a:ext cx="625744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тестирование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84384" y="4832985"/>
            <a:ext cx="5093137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10.3. ВЫВОД О КАЧЕСТВЕ ПРОЕКТА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4384" y="5631299"/>
            <a:ext cx="4167068" cy="73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95%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902375" y="6650950"/>
            <a:ext cx="393096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Соответствие требованиям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1606" y="5631299"/>
            <a:ext cx="4167068" cy="73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99.8%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5696188" y="6650950"/>
            <a:ext cx="3237905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Стабильность (uptime)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78829" y="5631299"/>
            <a:ext cx="4167188" cy="73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4.7/5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10332720" y="6650950"/>
            <a:ext cx="285928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Удовлетворенность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84384" y="7253168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Критические проблемы не выявлены. Проект готов к использованию в production-среде.</a:t>
            </a:r>
            <a:endParaRPr lang="en-US" sz="17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CE08243-72BE-4673-B6F3-3E496407003B}"/>
              </a:ext>
            </a:extLst>
          </p:cNvPr>
          <p:cNvSpPr/>
          <p:nvPr/>
        </p:nvSpPr>
        <p:spPr>
          <a:xfrm>
            <a:off x="12590585" y="7470982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926" y="434459"/>
            <a:ext cx="3972044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ИТОГИ И ПЕРСПЕКТИВЫ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52926" y="892492"/>
            <a:ext cx="211478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ИТОГОВЫЕ ВЫВОДЫ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52926" y="1376243"/>
            <a:ext cx="1352454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Доказана эффективность rule-based подхода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2926" y="1684258"/>
            <a:ext cx="1352454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Подтверждена интеграция Google Sheets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926" y="1992273"/>
            <a:ext cx="1352454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Снижение нагрузки на менеджеров на 40-60%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2926" y="2300288"/>
            <a:ext cx="1352454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Разработана масштабируемая архитектура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926" y="2789992"/>
            <a:ext cx="2670929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ПЕРСПЕКТИВЫ РАЗВИТИЯ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52926" y="3360599"/>
            <a:ext cx="78938" cy="78938"/>
          </a:xfrm>
          <a:prstGeom prst="roundRect">
            <a:avLst>
              <a:gd name="adj" fmla="val 579189"/>
            </a:avLst>
          </a:prstGeom>
          <a:solidFill>
            <a:srgbClr val="2B0AFF"/>
          </a:solidFill>
          <a:ln/>
        </p:spPr>
      </p:sp>
      <p:sp>
        <p:nvSpPr>
          <p:cNvPr id="10" name="Text 8"/>
          <p:cNvSpPr/>
          <p:nvPr/>
        </p:nvSpPr>
        <p:spPr>
          <a:xfrm>
            <a:off x="789861" y="3273743"/>
            <a:ext cx="1328761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GPT/YandexGPT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2926" y="3929360"/>
            <a:ext cx="78938" cy="78938"/>
          </a:xfrm>
          <a:prstGeom prst="roundRect">
            <a:avLst>
              <a:gd name="adj" fmla="val 579189"/>
            </a:avLst>
          </a:prstGeom>
          <a:solidFill>
            <a:srgbClr val="2B0AFF"/>
          </a:solidFill>
          <a:ln/>
        </p:spPr>
      </p:sp>
      <p:sp>
        <p:nvSpPr>
          <p:cNvPr id="12" name="Text 10"/>
          <p:cNvSpPr/>
          <p:nvPr/>
        </p:nvSpPr>
        <p:spPr>
          <a:xfrm>
            <a:off x="789861" y="3842504"/>
            <a:ext cx="1328761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бронирования и календарь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2926" y="4498122"/>
            <a:ext cx="78938" cy="78938"/>
          </a:xfrm>
          <a:prstGeom prst="roundRect">
            <a:avLst>
              <a:gd name="adj" fmla="val 579189"/>
            </a:avLst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789861" y="4411266"/>
            <a:ext cx="1328761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Платежная система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2926" y="5066883"/>
            <a:ext cx="78938" cy="78938"/>
          </a:xfrm>
          <a:prstGeom prst="roundRect">
            <a:avLst>
              <a:gd name="adj" fmla="val 579189"/>
            </a:avLst>
          </a:prstGeom>
          <a:solidFill>
            <a:srgbClr val="2B0AFF"/>
          </a:solidFill>
          <a:ln/>
        </p:spPr>
      </p:sp>
      <p:sp>
        <p:nvSpPr>
          <p:cNvPr id="16" name="Text 14"/>
          <p:cNvSpPr/>
          <p:nvPr/>
        </p:nvSpPr>
        <p:spPr>
          <a:xfrm>
            <a:off x="789861" y="4980027"/>
            <a:ext cx="1328761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Мобильное приложение для менеджеров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2926" y="5635645"/>
            <a:ext cx="78938" cy="78938"/>
          </a:xfrm>
          <a:prstGeom prst="roundRect">
            <a:avLst>
              <a:gd name="adj" fmla="val 579189"/>
            </a:avLst>
          </a:prstGeom>
          <a:solidFill>
            <a:srgbClr val="2B0AFF"/>
          </a:solidFill>
          <a:ln/>
        </p:spPr>
      </p:sp>
      <p:sp>
        <p:nvSpPr>
          <p:cNvPr id="18" name="Text 16"/>
          <p:cNvSpPr/>
          <p:nvPr/>
        </p:nvSpPr>
        <p:spPr>
          <a:xfrm>
            <a:off x="789861" y="5548789"/>
            <a:ext cx="1328761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Панель администратора и мультиязычность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2926" y="6038493"/>
            <a:ext cx="282904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ПРАКТИЧЕСКАЯ ЦЕННОСТЬ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52926" y="6522244"/>
            <a:ext cx="1352454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Применимо для фотостудий, образовательных учреждений, медцентров и интернет-магазинов. Для разработчиков это готовый шаблон на aiogram 3.x.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2926" y="7011948"/>
            <a:ext cx="314658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СПАСИБО ЗА ВНИМАНИЕ!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552926" y="7545110"/>
            <a:ext cx="1352454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[Ваше ФИО] | Контакт: [Ваш email или Telegram]</a:t>
            </a:r>
            <a:endParaRPr lang="en-US" sz="12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40A99AD-931A-40E7-A609-0592B219305A}"/>
              </a:ext>
            </a:extLst>
          </p:cNvPr>
          <p:cNvSpPr/>
          <p:nvPr/>
        </p:nvSpPr>
        <p:spPr>
          <a:xfrm>
            <a:off x="12600366" y="7465082"/>
            <a:ext cx="1916723" cy="740404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10408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ДОПОЛНИТЕЛЬНЫЕ МАТЕРИАЛЫ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535085"/>
            <a:ext cx="35921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Демонстрация и данные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22957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бота в реальном времени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7177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Обновление через Google Sheets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1139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до/после внедрения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55617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Экономический эффект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763</Words>
  <Application>Microsoft Office PowerPoint</Application>
  <PresentationFormat>Произвольный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Arial</vt:lpstr>
      <vt:lpstr>Inter Bold</vt:lpstr>
      <vt:lpstr>Consolas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Я копычев</dc:creator>
  <cp:lastModifiedBy>Admin</cp:lastModifiedBy>
  <cp:revision>4</cp:revision>
  <dcterms:created xsi:type="dcterms:W3CDTF">2025-12-25T14:41:32Z</dcterms:created>
  <dcterms:modified xsi:type="dcterms:W3CDTF">2025-12-25T14:44:43Z</dcterms:modified>
</cp:coreProperties>
</file>